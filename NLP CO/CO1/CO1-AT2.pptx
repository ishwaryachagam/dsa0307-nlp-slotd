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sldIdLst>
    <p:sldId id="256" r:id="rId2"/>
    <p:sldId id="257" r:id="rId3"/>
    <p:sldId id="267" r:id="rId4"/>
    <p:sldId id="264" r:id="rId5"/>
    <p:sldId id="266" r:id="rId6"/>
    <p:sldId id="265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DA125-EC53-45A0-A790-9375255125DA}" v="22" dt="2026-07-27T17:20:01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6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21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6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5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5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26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2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90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22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6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5775" y="2147130"/>
            <a:ext cx="10407015" cy="2387600"/>
          </a:xfrm>
        </p:spPr>
        <p:txBody>
          <a:bodyPr>
            <a:normAutofit/>
          </a:bodyPr>
          <a:lstStyle/>
          <a:p>
            <a:r>
              <a:rPr lang="en-US" altLang="en-GB" sz="4400" b="1" dirty="0">
                <a:latin typeface="Times New Roman" panose="02020603050405020304" charset="0"/>
                <a:cs typeface="Times New Roman" panose="02020603050405020304" charset="0"/>
              </a:rPr>
              <a:t>Morphology and Word Formation in Natural Languages</a:t>
            </a:r>
            <a:br>
              <a:rPr lang="en-US" altLang="en-GB" sz="4400" b="1" dirty="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altLang="en-GB" sz="2400" b="1" dirty="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altLang="en-GB" sz="2400" b="1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2400" b="1" dirty="0">
                <a:latin typeface="Times New Roman" panose="02020603050405020304" charset="0"/>
                <a:cs typeface="Times New Roman" panose="02020603050405020304" charset="0"/>
              </a:rPr>
              <a:t>DSA0307-Natural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08505" y="5393095"/>
            <a:ext cx="4156607" cy="1253693"/>
          </a:xfrm>
        </p:spPr>
        <p:txBody>
          <a:bodyPr>
            <a:normAutofit/>
          </a:bodyPr>
          <a:lstStyle/>
          <a:p>
            <a:pPr algn="ctr"/>
            <a:r>
              <a:rPr lang="en-US" altLang="en-GB" dirty="0">
                <a:latin typeface="Times New Roman" panose="02020603050405020304" charset="0"/>
                <a:cs typeface="Times New Roman" panose="02020603050405020304" charset="0"/>
              </a:rPr>
              <a:t>          </a:t>
            </a:r>
            <a:r>
              <a:rPr lang="en-US" altLang="en-GB" sz="2800" b="1" dirty="0">
                <a:latin typeface="Times New Roman" panose="02020603050405020304" charset="0"/>
                <a:cs typeface="Times New Roman" panose="02020603050405020304" charset="0"/>
              </a:rPr>
              <a:t>Presented By: </a:t>
            </a:r>
          </a:p>
          <a:p>
            <a:pPr algn="r"/>
            <a:r>
              <a:rPr lang="en-US" altLang="en-GB" dirty="0">
                <a:latin typeface="Times New Roman" panose="02020603050405020304" charset="0"/>
                <a:cs typeface="Times New Roman" panose="02020603050405020304" charset="0"/>
              </a:rPr>
              <a:t>C. Ishwarya (192472108)</a:t>
            </a:r>
          </a:p>
        </p:txBody>
      </p:sp>
      <p:pic>
        <p:nvPicPr>
          <p:cNvPr id="5" name="Google Shape;100;p13" descr="SSE-Computer Science and Engineering">
            <a:extLst>
              <a:ext uri="{FF2B5EF4-FFF2-40B4-BE49-F238E27FC236}">
                <a16:creationId xmlns:a16="http://schemas.microsoft.com/office/drawing/2014/main" id="{A0EECF5B-1F40-F1FF-34B0-7C49CC907C31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15819" y="211212"/>
            <a:ext cx="10949293" cy="125369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17A3C8-C42D-E8E2-BF58-06E414BC12F2}"/>
              </a:ext>
            </a:extLst>
          </p:cNvPr>
          <p:cNvSpPr txBox="1"/>
          <p:nvPr/>
        </p:nvSpPr>
        <p:spPr>
          <a:xfrm>
            <a:off x="915775" y="4833309"/>
            <a:ext cx="327737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                               </a:t>
            </a:r>
            <a:r>
              <a:rPr lang="en-US" altLang="en-GB" sz="2600" b="1" dirty="0">
                <a:latin typeface="Times New Roman" panose="02020603050405020304" charset="0"/>
                <a:cs typeface="Times New Roman" panose="02020603050405020304" charset="0"/>
              </a:rPr>
              <a:t>Guided By:</a:t>
            </a:r>
          </a:p>
          <a:p>
            <a:pPr algn="ctr"/>
            <a:r>
              <a:rPr lang="en-US" altLang="en-GB" sz="2600" dirty="0">
                <a:latin typeface="Times New Roman" panose="02020603050405020304" charset="0"/>
                <a:cs typeface="Times New Roman" panose="02020603050405020304" charset="0"/>
              </a:rPr>
              <a:t>Dr.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Anbazhagan K</a:t>
            </a:r>
            <a:endParaRPr lang="en-US" alt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191" y="533075"/>
            <a:ext cx="4729065" cy="1510329"/>
          </a:xfr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Morphology?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9CC75-4C53-71B2-7770-5D88033EA17D}"/>
              </a:ext>
            </a:extLst>
          </p:cNvPr>
          <p:cNvSpPr txBox="1"/>
          <p:nvPr/>
        </p:nvSpPr>
        <p:spPr>
          <a:xfrm>
            <a:off x="5540051" y="169612"/>
            <a:ext cx="6097554" cy="230832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is the study of the internal structure of words.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explains how words are formed and how they change meaning.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NLP, morphology helps computers understand different forms of a word.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8A0E6A-89CA-76E3-9EE0-E36A22CFD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" t="2179" r="3155" b="6734"/>
          <a:stretch>
            <a:fillRect/>
          </a:stretch>
        </p:blipFill>
        <p:spPr>
          <a:xfrm>
            <a:off x="1101011" y="2696775"/>
            <a:ext cx="9526557" cy="39402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492E-71F8-70A6-831B-E2CFDEC276AC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morphology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F0E23-84F3-6B72-D5DF-F5F100CED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806202"/>
            <a:ext cx="5157787" cy="57383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01D02-609A-EBD1-4CCB-1AB2E0E8A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 changes the grammatical form of a word without changing its basic meaning or word class (part of speech).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Example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→ Played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meaning is still play, only the tense changes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3849A-7497-77A6-077A-A1A0DAE4A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0098"/>
            <a:ext cx="5183188" cy="42993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478862-BEBF-5072-EDBC-81B8FFC72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 creates a new word by adding prefixes or suffixes. It often changes the meaning and sometimes the part of speech.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 (Verb)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(Noun)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completely new word is formed.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100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0983DF-9A69-5E40-14C2-13B6CDE56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62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A099B3-FFA8-7BF3-EF0A-816BFCF67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088686"/>
              </p:ext>
            </p:extLst>
          </p:nvPr>
        </p:nvGraphicFramePr>
        <p:xfrm>
          <a:off x="671804" y="1493512"/>
          <a:ext cx="11056777" cy="4851920"/>
        </p:xfrm>
        <a:graphic>
          <a:graphicData uri="http://schemas.openxmlformats.org/drawingml/2006/table">
            <a:tbl>
              <a:tblPr/>
              <a:tblGrid>
                <a:gridCol w="3558063">
                  <a:extLst>
                    <a:ext uri="{9D8B030D-6E8A-4147-A177-3AD203B41FA5}">
                      <a16:colId xmlns:a16="http://schemas.microsoft.com/office/drawing/2014/main" val="2609704366"/>
                    </a:ext>
                  </a:extLst>
                </a:gridCol>
                <a:gridCol w="3749357">
                  <a:extLst>
                    <a:ext uri="{9D8B030D-6E8A-4147-A177-3AD203B41FA5}">
                      <a16:colId xmlns:a16="http://schemas.microsoft.com/office/drawing/2014/main" val="1286125718"/>
                    </a:ext>
                  </a:extLst>
                </a:gridCol>
                <a:gridCol w="3749357">
                  <a:extLst>
                    <a:ext uri="{9D8B030D-6E8A-4147-A177-3AD203B41FA5}">
                      <a16:colId xmlns:a16="http://schemas.microsoft.com/office/drawing/2014/main" val="3603612788"/>
                    </a:ext>
                  </a:extLst>
                </a:gridCol>
              </a:tblGrid>
              <a:tr h="674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202757"/>
                  </a:ext>
                </a:extLst>
              </a:tr>
              <a:tr h="546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Prefixation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a prefix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 → Unhappy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445709"/>
                  </a:ext>
                </a:extLst>
              </a:tr>
              <a:tr h="546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Suffixation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a suffix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 → Teacher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56359"/>
                  </a:ext>
                </a:extLst>
              </a:tr>
              <a:tr h="996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Compounding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 two words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Tooth + Brush = Toothbrush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013346"/>
                  </a:ext>
                </a:extLst>
              </a:tr>
              <a:tr h="546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Blending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Merge parts of words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Smoke + Fog = Smog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798892"/>
                  </a:ext>
                </a:extLst>
              </a:tr>
              <a:tr h="546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Clipping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Shorten a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Advertisement → 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416265"/>
                  </a:ext>
                </a:extLst>
              </a:tr>
              <a:tr h="996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Acronym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 letters form a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925425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4A6EF8B-4677-4815-20DE-89FC22EEA7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FORMATION PROCESSES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099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C5FB75-B3A7-5C82-B6AD-CEE17B33EC0B}"/>
              </a:ext>
            </a:extLst>
          </p:cNvPr>
          <p:cNvSpPr/>
          <p:nvPr/>
        </p:nvSpPr>
        <p:spPr>
          <a:xfrm>
            <a:off x="718457" y="447869"/>
            <a:ext cx="5029200" cy="585962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Morphology is Important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machine translation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search engines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spell checking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chatbots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</a:t>
            </a: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5D8389-45D1-7156-132B-FC6AF3F8FDB0}"/>
              </a:ext>
            </a:extLst>
          </p:cNvPr>
          <p:cNvSpPr/>
          <p:nvPr/>
        </p:nvSpPr>
        <p:spPr>
          <a:xfrm>
            <a:off x="6444345" y="499187"/>
            <a:ext cx="5029200" cy="585962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Search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Grammarly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ChatGPT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Assistants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Summarization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90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GB" b="1" dirty="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326" y="1825625"/>
            <a:ext cx="9871243" cy="435165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studies word structure. Morphemes are the smallest meaningful units.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are formed using different processes.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improves NLP systems by understanding word variations.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plays a key role in AI-based language technologies.</a:t>
            </a:r>
            <a:endParaRPr lang="en-US" alt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35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</TotalTime>
  <Words>284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Morphology and Word Formation in Natural Languages   DSA0307-Natural Language Processing</vt:lpstr>
      <vt:lpstr>What is Morphology?</vt:lpstr>
      <vt:lpstr>Types of morphology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YASWITHA</dc:creator>
  <cp:lastModifiedBy>Ishwarya chagam</cp:lastModifiedBy>
  <cp:revision>5</cp:revision>
  <dcterms:created xsi:type="dcterms:W3CDTF">2025-07-23T00:59:00Z</dcterms:created>
  <dcterms:modified xsi:type="dcterms:W3CDTF">2026-07-28T03:17:26Z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9F9DD5DB55BD4EBB90A4BF9489D68F09_11</vt:lpwstr>
  </property>
  <property fmtid="{D5CDD505-2E9C-101B-9397-08002B2CF9AE}" pid="3" name="KSOProductBuildVer">
    <vt:lpwstr>2057-12.2.0.23206</vt:lpwstr>
  </property>
</Properties>
</file>